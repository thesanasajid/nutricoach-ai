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to open: I built a working chatbot that supports people with type 2 diabetes in everyday nutrition decisions - and a complete statistical pipeline showing how its effect would be evaluated. Everything runs locally, and all study data are simulated and labeled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gap: nutrition therapy is first-line in every guideline, but professional support is scarce and episodic while the decisions are daily. That mismatch is what conversational agents can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research angle, not a limitation of skill: in a health context, reproducibility, auditability and safety-by-construction are requirements. The trade-off, coverage, is measured honestly via the fallback rate - and the hybrid architecture is the planned comparison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 and stress that the safety layer sits before everything else. The knowledge base is plain JSON - reviewable and extendable. Demo tip: run NutriCoach.exe live, ask 'white rice or brown rice?'.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example: even though the question mentions dinner, it never reaches the meal-ideas route - the safety layer wins by priority. This is enforceable precisely because routing is code, not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evaluation layers: 27 unit checks and a 78-utterance routing evaluation, currently 100 percent. Be upfront that the set is developer-authored - the professor will respect the caveat. The field metric is the fallback rate computed from real usage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two-arm pilot design. The colors match the charts on the next slides: orange is intervention, blue is control. Emphasize pre-specification: the analysis plan exists as code before any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intervention arm improves 0.37 percentage points more than control, Welch t-test, clearly significant, moderate effect size. Say it out loud every time: these numbers are simulated with assumed effects - they demonstrate the analysis, not efficacy.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secondary hypothesis: a dose-response between usage and improvement. Point out the honest caveat - even with real data this is observational; a causal claim needs a design-level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to the inevitable question 'how many participants would the real study need': about 63 per arm for the literature-typical 0.3 percentage points, 79 with dropout reserve. The pilot itself already has 78 percent power for that effect under the planning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the limitations is a strength in a research context. The ethics column doubles as the checklist for the moment real users enter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reproducibility line - it is the strongest sentence of the talk. Offer a live demo of the chatbot right after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1115568"/>
            <a:ext cx="128016" cy="12801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115568"/>
            <a:ext cx="128016" cy="12801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115568"/>
            <a:ext cx="128016" cy="12801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NutriCoach T2D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FE8E1"/>
                </a:solidFill>
                <a:latin typeface="Calibri"/>
              </a:rPr>
              <a:t>A rule-based conversational AI for nutrition self-management support in type 2 diabetes</a:t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CFE8E1"/>
                </a:solidFill>
                <a:latin typeface="Calibri"/>
              </a:rPr>
              <a:t>Proof of concept with a simulated evaluation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245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Sana Sajid · Research project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600200"/>
            <a:ext cx="475488" cy="475488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18120" y="2377440"/>
            <a:ext cx="475488" cy="475488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20" y="3154680"/>
            <a:ext cx="475488" cy="475488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Why nutrition support needs to scale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E7C66"/>
                </a:solidFill>
                <a:latin typeface="Cambria"/>
              </a:rPr>
              <a:t>537 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736E"/>
                </a:solidFill>
                <a:latin typeface="Calibri"/>
              </a:rPr>
              <a:t>adults were living with diabetes in 2021 (IDF Diabetes Atlas) - roughly 9 in 10 have type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2B28"/>
                </a:solidFill>
                <a:latin typeface="Calibri"/>
              </a:rPr>
              <a:t>Nutrition is first-line therapy - but the questions arrive daily, between appointments.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6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08760"/>
            <a:ext cx="3429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B28"/>
                </a:solidFill>
                <a:latin typeface="Calibri"/>
              </a:rPr>
              <a:t>The daily reality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Every meal is a decision: "Can I eat this? How much? What instead?"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Dietitian access is limited and episodic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Generic leaflets don't answer the question of the moment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A chatbot answers 24/7, at near-zero marginal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Design decision: why not just an LLM?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4290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5F736E"/>
                </a:solidFill>
                <a:latin typeface="Calibri"/>
              </a:rPr>
              <a:t>LLM chatbot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Can hallucinate confident nonsense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Answers vary from run to run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Safety lives in a prompt, not in code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•  Input usually leaves the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63040"/>
            <a:ext cx="34290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Rule-based + curated knowledge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Every answer grounded in reviewed content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Deterministic and reproducible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Safety guaranteed by code, checked first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100% offline - privacy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F736E"/>
                </a:solidFill>
                <a:latin typeface="Calibri"/>
              </a:rPr>
              <a:t>Trade-off: limited coverage - measured via the fallback rate. A hybrid (LLM language + curated content) is the designed next 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The prototype in one view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13350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C2B28"/>
                </a:solidFill>
                <a:latin typeface="Calibri"/>
              </a:rPr>
              <a:t>User message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75104" y="1700784"/>
            <a:ext cx="201168" cy="201168"/>
          </a:xfrm>
          <a:prstGeom prst="rightArrow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39696" y="13258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BEAE9"/>
          </a:solidFill>
          <a:ln w="1270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481328"/>
            <a:ext cx="13350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C2B28"/>
                </a:solidFill>
                <a:latin typeface="Calibri"/>
              </a:rPr>
              <a:t>Safety layer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1C2B28"/>
                </a:solidFill>
                <a:latin typeface="Calibri"/>
              </a:rPr>
              <a:t>(always first)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57600" y="1700784"/>
            <a:ext cx="201168" cy="201168"/>
          </a:xfrm>
          <a:prstGeom prst="rightArrow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1" y="13258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481328"/>
            <a:ext cx="13350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C2B28"/>
                </a:solidFill>
                <a:latin typeface="Calibri"/>
              </a:rPr>
              <a:t>Intent routing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1C2B28"/>
                </a:solidFill>
                <a:latin typeface="Calibri"/>
              </a:rPr>
              <a:t>(deterministic)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40096" y="1700784"/>
            <a:ext cx="201168" cy="201168"/>
          </a:xfrm>
          <a:prstGeom prst="rightArrow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4688" y="13258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481328"/>
            <a:ext cx="13350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C2B28"/>
                </a:solidFill>
                <a:latin typeface="Calibri"/>
              </a:rPr>
              <a:t>Knowledge base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1C2B28"/>
                </a:solidFill>
                <a:latin typeface="Calibri"/>
              </a:rPr>
              <a:t>79 foods · 14 topics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22592" y="1700784"/>
            <a:ext cx="201168" cy="201168"/>
          </a:xfrm>
          <a:prstGeom prst="rightArrow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87183" y="13258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0E7C66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481328"/>
            <a:ext cx="13350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Grounded answer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+ intent &amp;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907792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2B28"/>
                </a:solidFill>
                <a:latin typeface="Calibri"/>
              </a:rPr>
              <a:t>Runs fully offline - zero external calls, local-only usage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7432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7" y="2907792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2B28"/>
                </a:solidFill>
                <a:latin typeface="Calibri"/>
              </a:rPr>
              <a:t>Traffic-light rating (green / yellow / red) for everyday choices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7432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2907792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2B28"/>
                </a:solidFill>
                <a:latin typeface="Calibri"/>
              </a:rPr>
              <a:t>Bilingual (EN/DE) - ships as a windowed desktop app (.exe, no Python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F736E"/>
                </a:solidFill>
                <a:latin typeface="Calibri"/>
              </a:rPr>
              <a:t>Every reply displays its detected intent and its source - explainability is built into the interface.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Safety by construction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11880" cy="640080"/>
          </a:xfrm>
          <a:prstGeom prst="roundRect">
            <a:avLst>
              <a:gd name="adj" fmla="val 15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FFFFFF"/>
                </a:solidFill>
                <a:latin typeface="Calibri"/>
              </a:rPr>
              <a:t>“How much insulin should I take with dinner?”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657600" cy="160020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67712"/>
            <a:ext cx="3246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2B28"/>
                </a:solidFill>
                <a:latin typeface="Calibri"/>
              </a:rPr>
              <a:t>“I'm deliberately not able to help with medication decisions - doses and timing belong with your doctor or diabetes team. If it's urgent, please contact your care team now.”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9534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F736E"/>
                </a:solidFill>
                <a:latin typeface="Calibri"/>
              </a:rPr>
              <a:t>intent: safety_medication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25880"/>
            <a:ext cx="4023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B28"/>
                </a:solidFill>
                <a:latin typeface="Calibri"/>
              </a:rPr>
              <a:t>A guarantee, not a guideline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2B28"/>
                </a:solidFill>
                <a:latin typeface="Calibri"/>
              </a:rPr>
              <a:t>•  Safety patterns are checked before all other routing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2B28"/>
                </a:solidFill>
                <a:latin typeface="Calibri"/>
              </a:rPr>
              <a:t>•  Three classes: medication · acute symptoms · crisis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2B28"/>
                </a:solidFill>
                <a:latin typeface="Calibri"/>
              </a:rPr>
              <a:t>•  Answered only with a referral to human care - never with content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2B28"/>
                </a:solidFill>
                <a:latin typeface="Calibri"/>
              </a:rPr>
              <a:t>•  Persistent "not medical advice" disclaimer on every reply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2B28"/>
                </a:solidFill>
                <a:latin typeface="Calibri"/>
              </a:rPr>
              <a:t>•  Behaviour verified by unit checks and the evaluation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Does the routing work? Measured.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2468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E7C66"/>
                </a:solidFill>
                <a:latin typeface="Cambria"/>
              </a:rPr>
              <a:t>40 / 40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unit checks passed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routing in EN and DE, aliases, safety priority, knowledge-base 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27632"/>
            <a:ext cx="2468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E7C66"/>
                </a:solidFill>
                <a:latin typeface="Cambria"/>
              </a:rPr>
              <a:t>100 %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routing accuracy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78-utterance evaluation set across all intent families (78/78)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27632"/>
            <a:ext cx="2468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E7C66"/>
                </a:solidFill>
                <a:latin typeface="Cambria"/>
              </a:rPr>
              <a:t>11 / 11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safety utterances deflected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medication, acute-symptom and crisis inputs in the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B28"/>
                </a:solidFill>
                <a:latin typeface="Calibri"/>
              </a:rPr>
              <a:t>Honest caveat: the evaluation set is developer-authored - an upper bound, not field performance.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F736E"/>
                </a:solidFill>
                <a:latin typeface="Calibri"/>
              </a:rPr>
              <a:t>Real-world coverage is therefore tracked separately: the fallback rate from the local usage log, plus every unanswered utterance as a concrete knowledge-base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Evaluating impact: pilot RCT design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C2B28"/>
                </a:solidFill>
                <a:latin typeface="Calibri"/>
              </a:rPr>
              <a:t>N = 120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F736E"/>
                </a:solidFill>
                <a:latin typeface="Calibri"/>
              </a:rPr>
              <a:t>adults with T2D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8470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randomized 1:1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40864" y="1627632"/>
            <a:ext cx="457200" cy="182880"/>
          </a:xfrm>
          <a:prstGeom prst="rightArrow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340864" y="3364992"/>
            <a:ext cx="457200" cy="182880"/>
          </a:xfrm>
          <a:prstGeom prst="rightArrow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298448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426464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Intervention · n = 60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736E"/>
                </a:solidFill>
                <a:latin typeface="Calibri"/>
              </a:rPr>
              <a:t>usual care + NutriCoach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301752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E3EFF7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3145536"/>
            <a:ext cx="24871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Control · n = 60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736E"/>
                </a:solidFill>
                <a:latin typeface="Calibri"/>
              </a:rPr>
              <a:t>usual care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847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12 weeks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60720" y="1627632"/>
            <a:ext cx="457200" cy="182880"/>
          </a:xfrm>
          <a:prstGeom prst="rightArrow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760720" y="3364992"/>
            <a:ext cx="457200" cy="182880"/>
          </a:xfrm>
          <a:prstGeom prst="rightArrow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481328"/>
            <a:ext cx="2331720" cy="2240280"/>
          </a:xfrm>
          <a:prstGeom prst="roundRect">
            <a:avLst>
              <a:gd name="adj" fmla="val 8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64208"/>
            <a:ext cx="20116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C2B28"/>
                </a:solidFill>
                <a:latin typeface="Calibri"/>
              </a:rPr>
              <a:t>Outcomes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C2B28"/>
                </a:solidFill>
                <a:latin typeface="Calibri"/>
              </a:rPr>
              <a:t>•  Primary: HbA1c change (week 0 to 12)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C2B28"/>
                </a:solidFill>
                <a:latin typeface="Calibri"/>
              </a:rPr>
              <a:t>•  Secondary: weekly fasting glucose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C2B28"/>
                </a:solidFill>
                <a:latin typeface="Calibri"/>
              </a:rPr>
              <a:t>•  Process: engagement (messages sent)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F736E"/>
                </a:solidFill>
                <a:latin typeface="Calibri"/>
              </a:rPr>
              <a:t>Demonstrated end-to-end on simulated data (documented assumptions, fixed seed) - the pipeline is pre-specified and reproducible.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Primary outcome (simulated pilot)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97880" y="365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DF3E1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2519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A66B00"/>
                </a:solidFill>
                <a:latin typeface="Calibri"/>
              </a:rPr>
              <a:t>SIMULATED DATA - METHODOLOGY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0E7C66"/>
                </a:solidFill>
                <a:latin typeface="Cambria"/>
              </a:rPr>
              <a:t>−0.37 pp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C2B28"/>
                </a:solidFill>
                <a:latin typeface="Calibri"/>
              </a:rPr>
              <a:t>greater HbA1c reduction than control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95% CI  [−0.59, −0.16]  ·  p &lt; 0.001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Effect size: Cohen's d = −0.63 (moderate)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736E"/>
                </a:solidFill>
                <a:latin typeface="Calibri"/>
              </a:rPr>
              <a:t>A 0.3-0.5 pp reduction is the range reported for real digital diabetes interventions - and is considered clinically relevant.</a:t>
            </a:r>
          </a:p>
        </p:txBody>
      </p:sp>
      <p:pic>
        <p:nvPicPr>
          <p:cNvPr id="9" name="Picture 8" descr="fig1_hba1c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3000"/>
            <a:ext cx="4114800" cy="306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Engagement dose-response (simulated)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97880" y="365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DF3E1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2519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A66B00"/>
                </a:solidFill>
                <a:latin typeface="Calibri"/>
              </a:rPr>
              <a:t>SIMULATED DATA - METHODOLOGY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931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0E7C66"/>
                </a:solidFill>
                <a:latin typeface="Cambria"/>
              </a:rPr>
              <a:t>−0.064 pp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C2B28"/>
                </a:solidFill>
                <a:latin typeface="Calibri"/>
              </a:rPr>
              <a:t>per 10 chatbot messages sent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1C2B28"/>
                </a:solidFill>
                <a:latin typeface="Calibri"/>
              </a:rPr>
              <a:t>r = −0.36  ·  p = 0.005 (intervention arm)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More engaged participants improve more - by construction of the simulation.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736E"/>
                </a:solidFill>
                <a:latin typeface="Calibri"/>
              </a:rPr>
              <a:t>In a real trial this association is observational: engaged users may differ. It supports, but cannot prove, causality.</a:t>
            </a:r>
          </a:p>
        </p:txBody>
      </p:sp>
      <p:pic>
        <p:nvPicPr>
          <p:cNvPr id="9" name="Picture 8" descr="fig3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30488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Sizing the definitive trial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0E7C66"/>
                </a:solidFill>
                <a:latin typeface="Cambria"/>
              </a:rPr>
              <a:t>63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per arm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to detect 0.3 pp (α = 0.05, power 80%, SD 0.6)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91056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0E7C66"/>
                </a:solidFill>
                <a:latin typeface="Cambria"/>
              </a:rPr>
              <a:t>79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per arm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with a 20% dropout reserve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51760" cy="1965960"/>
          </a:xfrm>
          <a:prstGeom prst="roundRect">
            <a:avLst>
              <a:gd name="adj" fmla="val 7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91056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0E7C66"/>
                </a:solidFill>
                <a:latin typeface="Cambria"/>
              </a:rPr>
              <a:t>78 %</a:t>
            </a:r>
          </a:p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C2B28"/>
                </a:solidFill>
                <a:latin typeface="Calibri"/>
              </a:rPr>
              <a:t>pilot power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736E"/>
                </a:solidFill>
                <a:latin typeface="Calibri"/>
              </a:rPr>
              <a:t>the simulated pilot (n = 60/arm) for the same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F736E"/>
                </a:solidFill>
                <a:latin typeface="Calibri"/>
              </a:rPr>
              <a:t>Normal-approximation two-sample sizing, computed in the analysis pipeline (analyze.py) - reproducible, and easy to re-run for other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C2B28"/>
                </a:solidFill>
                <a:latin typeface="Cambria"/>
              </a:rPr>
              <a:t>Honest limitations &amp; ethics</a:t>
            </a:r>
          </a:p>
        </p:txBody>
      </p:sp>
      <p:sp>
        <p:nvSpPr>
          <p:cNvPr id="3" name="Oval 2"/>
          <p:cNvSpPr/>
          <p:nvPr/>
        </p:nvSpPr>
        <p:spPr>
          <a:xfrm>
            <a:off x="8165592" y="384048"/>
            <a:ext cx="82296" cy="82296"/>
          </a:xfrm>
          <a:prstGeom prst="ellipse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21624" y="384048"/>
            <a:ext cx="82296" cy="82296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7656" y="384048"/>
            <a:ext cx="82296" cy="82296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6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429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B28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Study data are simulated - the pipeline, not the effect, is the contribution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Coverage bounded by the knowledge base (fallback rate tracked)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Nutrition values are curated approximations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Population-level education only - no personalization (by design)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6000"/>
            </a:avLst>
          </a:prstGeom>
          <a:solidFill>
            <a:srgbClr val="EEF5F3"/>
          </a:solidFill>
          <a:ln w="12700">
            <a:solidFill>
              <a:srgbClr val="DB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17320"/>
            <a:ext cx="3429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B28"/>
                </a:solidFill>
                <a:latin typeface="Calibri"/>
              </a:rPr>
              <a:t>Ethics &amp; privacy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No real patient data anywhere in the project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Not a medical device - persistent disclaimer, refuses medication/emergency questions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Fully local processing; log stays on the device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2B28"/>
                </a:solidFill>
                <a:latin typeface="Calibri"/>
              </a:rPr>
              <a:t>•  Real study path: ethics approval, informed consent, clinician review of all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7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Where this goes next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207008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A5C4C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Real-user pilot: fallback rate, satisfaction (SUS), dietitian-rated guideline concordance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5681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2996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A5C4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29967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Hybrid architecture: LLM for language, curated knowledge for content, same safety layer - comparison study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06624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A5C4C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7977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Maintained food database (USDA FoodData Central), more languages beyond EN/DE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564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95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A5C4C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29584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randomized pilot trial designed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FE8E1"/>
                </a:solidFill>
                <a:latin typeface="Calibri"/>
              </a:rPr>
              <a:t>Every number in this deck is reproducible from the repository - code, data and analysis included.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FB2"/>
                </a:solidFill>
                <a:latin typeface="Calibri"/>
              </a:rPr>
              <a:t>NutriCoach T2D · proof of concept · simulated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FBFB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NutriCoach T2D - proof of concept</dc:title>
  <dc:subject/>
  <dc:creator>Sana Sajid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